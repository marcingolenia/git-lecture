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59" r:id="rId7"/>
    <p:sldId id="269" r:id="rId8"/>
    <p:sldId id="270" r:id="rId9"/>
    <p:sldId id="262" r:id="rId10"/>
    <p:sldId id="264" r:id="rId11"/>
    <p:sldId id="263" r:id="rId12"/>
    <p:sldId id="265" r:id="rId13"/>
    <p:sldId id="268" r:id="rId14"/>
    <p:sldId id="266" r:id="rId15"/>
    <p:sldId id="267" r:id="rId16"/>
  </p:sldIdLst>
  <p:sldSz cx="9144000" cy="6858000" type="screen4x3"/>
  <p:notesSz cx="6858000" cy="9144000"/>
  <p:embeddedFontLst>
    <p:embeddedFont>
      <p:font typeface="Gill Sans MT Condensed" panose="020B0506020104020203" pitchFamily="34" charset="-18"/>
      <p:regular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6A9E"/>
    <a:srgbClr val="DA251D"/>
    <a:srgbClr val="E8E3DA"/>
    <a:srgbClr val="DBDBDB"/>
    <a:srgbClr val="7CB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79258" autoAdjust="0"/>
  </p:normalViewPr>
  <p:slideViewPr>
    <p:cSldViewPr>
      <p:cViewPr>
        <p:scale>
          <a:sx n="75" d="100"/>
          <a:sy n="75" d="100"/>
        </p:scale>
        <p:origin x="1266" y="-5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1878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534FB-57AD-4648-A132-F48641CADD17}" type="datetimeFigureOut">
              <a:rPr lang="en-US" smtClean="0"/>
              <a:pPr/>
              <a:t>7/6/2015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40F8A-A979-4FD5-9C5E-70D8AE5936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01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1A232-D6D1-45FF-A4BE-E043083276F0}" type="datetimeFigureOut">
              <a:rPr lang="en-US" smtClean="0"/>
              <a:pPr/>
              <a:t>7/6/2015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A56F3-4DE2-4BC2-9B8C-92D77D48C7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3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Linus </a:t>
            </a:r>
            <a:r>
              <a:rPr lang="pl-PL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Torvalds</a:t>
            </a:r>
            <a:endParaRPr lang="pl-PL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79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25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1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7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doesn't care what you name your remotes, but it's typical to name your main one </a:t>
            </a:r>
            <a:r>
              <a:rPr lang="en-US" dirty="0" smtClean="0"/>
              <a:t>origin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l-PL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set of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56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doesn't care what you name your remotes, but it's typical to name your main one </a:t>
            </a:r>
            <a:r>
              <a:rPr lang="en-US" dirty="0" smtClean="0"/>
              <a:t>origin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l-PL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l-P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set of </a:t>
            </a:r>
            <a:r>
              <a:rPr lang="pl-PL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lang="pl-PL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62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origin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default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the URL of your remote repository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7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99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54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54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A56F3-4DE2-4BC2-9B8C-92D77D48C78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8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833F-C3EF-41FC-8986-AC11D7C32BD2}" type="datetime1">
              <a:rPr lang="en-US" smtClean="0"/>
              <a:pPr/>
              <a:t>7/6/2015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ounded Rectangle 9"/>
          <p:cNvSpPr/>
          <p:nvPr userDrawn="1"/>
        </p:nvSpPr>
        <p:spPr>
          <a:xfrm>
            <a:off x="-533400" y="-609600"/>
            <a:ext cx="9067800" cy="5791200"/>
          </a:xfrm>
          <a:prstGeom prst="roundRect">
            <a:avLst>
              <a:gd name="adj" fmla="val 4291"/>
            </a:avLst>
          </a:prstGeom>
          <a:noFill/>
          <a:ln w="53975">
            <a:solidFill>
              <a:srgbClr val="DA251D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 userDrawn="1"/>
        </p:nvSpPr>
        <p:spPr>
          <a:xfrm>
            <a:off x="6934200" y="4495800"/>
            <a:ext cx="2743200" cy="2819400"/>
          </a:xfrm>
          <a:prstGeom prst="roundRect">
            <a:avLst>
              <a:gd name="adj" fmla="val 11203"/>
            </a:avLst>
          </a:prstGeom>
          <a:noFill/>
          <a:ln w="53975">
            <a:solidFill>
              <a:srgbClr val="086A9E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4C53-CF0F-4D69-9313-5D50BF64ED36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09BE-94C4-401C-A3F9-317B79E2CECA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343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343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83ED-4540-4D8F-87E4-CB928EA06980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ACC4-4D96-4F5A-ACC6-6842B7218BF9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DF225-C0A5-4B91-9112-D8F1AB9DA244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1C3D-6D23-4AF7-9B90-9E76B3F01320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987F-05D6-464A-8811-70920BF9A3AC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CA44-1B05-4340-A363-208A90C1613A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C55E9-25B9-486F-A372-C423B0614A66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6AFED-A4D3-4E88-ACD6-081D3967F705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295400"/>
            <a:ext cx="8839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D9E9A-2D95-4F1D-9E06-1989E44E3203}" type="datetime1">
              <a:rPr lang="en-US" smtClean="0"/>
              <a:pPr/>
              <a:t>7/6/2015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00" y="6400800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86A9E"/>
                </a:solidFill>
              </a:defRPr>
            </a:lvl1pPr>
          </a:lstStyle>
          <a:p>
            <a:fld id="{460B10B1-CFAE-4B3D-B1DA-4BA7CB88E0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91400" y="6477000"/>
            <a:ext cx="1662111" cy="2745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bg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  <a:latin typeface="Gill Sans MT Condensed" pitchFamily="34" charset="-18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FD2121"/>
        </a:buClr>
        <a:buFont typeface="Wingdings" pitchFamily="2" charset="2"/>
        <a:buChar char="§"/>
        <a:defRPr sz="3200" b="1" kern="1200">
          <a:solidFill>
            <a:schemeClr val="tx1"/>
          </a:solidFill>
          <a:effectLst/>
          <a:latin typeface="Trebuchet MS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8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4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0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86A9E"/>
        </a:buClr>
        <a:buFont typeface="Wingdings" pitchFamily="2" charset="2"/>
        <a:buChar char="§"/>
        <a:defRPr sz="2000" kern="1200">
          <a:solidFill>
            <a:schemeClr val="tx1">
              <a:lumMod val="95000"/>
              <a:lumOff val="5000"/>
            </a:schemeClr>
          </a:solidFill>
          <a:latin typeface="Trebuchet MS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295400"/>
            <a:ext cx="4572000" cy="2057400"/>
          </a:xfrm>
        </p:spPr>
        <p:txBody>
          <a:bodyPr>
            <a:normAutofit/>
          </a:bodyPr>
          <a:lstStyle/>
          <a:p>
            <a:r>
              <a:rPr lang="pl-PL" dirty="0" smtClean="0">
                <a:solidFill>
                  <a:schemeClr val="tx1"/>
                </a:solidFill>
              </a:rPr>
              <a:t>Podstawy GIT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143000"/>
          </a:xfrm>
        </p:spPr>
        <p:txBody>
          <a:bodyPr/>
          <a:lstStyle/>
          <a:p>
            <a:r>
              <a:rPr lang="pl-PL" sz="2000" dirty="0" smtClean="0"/>
              <a:t>Marcin Golenia</a:t>
            </a:r>
          </a:p>
          <a:p>
            <a:r>
              <a:rPr lang="pl-PL" sz="2000" dirty="0" smtClean="0"/>
              <a:t>ma.golenia@lgbs.pl</a:t>
            </a:r>
            <a:endParaRPr lang="pl-PL" dirty="0" smtClean="0"/>
          </a:p>
        </p:txBody>
      </p:sp>
      <p:pic>
        <p:nvPicPr>
          <p:cNvPr id="1026" name="Picture 2" descr="Gold_Partner_logo_large_transpar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5867400"/>
            <a:ext cx="3954463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https://git-for-windows.github.io/img/git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76287"/>
            <a:ext cx="30956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Agenda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 smtClean="0"/>
              <a:t>Wstęp</a:t>
            </a:r>
          </a:p>
          <a:p>
            <a:pPr lvl="1"/>
            <a:r>
              <a:rPr lang="pl-PL" dirty="0" smtClean="0"/>
              <a:t>Definicja</a:t>
            </a:r>
          </a:p>
          <a:p>
            <a:pPr lvl="1"/>
            <a:r>
              <a:rPr lang="pl-PL" dirty="0" smtClean="0"/>
              <a:t>Strategie pracy (Git </a:t>
            </a:r>
            <a:r>
              <a:rPr lang="pl-PL" dirty="0" err="1" smtClean="0"/>
              <a:t>Workflow</a:t>
            </a:r>
            <a:r>
              <a:rPr lang="pl-PL" dirty="0" smtClean="0"/>
              <a:t>)</a:t>
            </a:r>
          </a:p>
          <a:p>
            <a:r>
              <a:rPr lang="pl-PL" dirty="0" smtClean="0"/>
              <a:t>Git</a:t>
            </a:r>
          </a:p>
          <a:p>
            <a:pPr lvl="1"/>
            <a:r>
              <a:rPr lang="pl-PL" dirty="0" err="1" smtClean="0"/>
              <a:t>Bash</a:t>
            </a:r>
            <a:endParaRPr lang="pl-PL" dirty="0" smtClean="0"/>
          </a:p>
          <a:p>
            <a:pPr lvl="1"/>
            <a:r>
              <a:rPr lang="pl-PL" dirty="0" smtClean="0"/>
              <a:t>Gui</a:t>
            </a:r>
          </a:p>
          <a:p>
            <a:pPr lvl="1"/>
            <a:r>
              <a:rPr lang="pl-PL" dirty="0" err="1" smtClean="0"/>
              <a:t>Merge</a:t>
            </a:r>
            <a:endParaRPr lang="pl-PL" dirty="0" smtClean="0"/>
          </a:p>
          <a:p>
            <a:r>
              <a:rPr lang="pl-PL" dirty="0" smtClean="0"/>
              <a:t>Git – nowoczesne narzędzia</a:t>
            </a:r>
          </a:p>
          <a:p>
            <a:pPr lvl="1"/>
            <a:r>
              <a:rPr lang="pl-PL" dirty="0" err="1" smtClean="0"/>
              <a:t>GitHub</a:t>
            </a:r>
            <a:endParaRPr lang="pl-PL" dirty="0" smtClean="0"/>
          </a:p>
          <a:p>
            <a:pPr lvl="1"/>
            <a:r>
              <a:rPr lang="pl-PL" dirty="0" err="1" smtClean="0"/>
              <a:t>GitHub</a:t>
            </a:r>
            <a:r>
              <a:rPr lang="pl-PL" dirty="0" smtClean="0"/>
              <a:t> for </a:t>
            </a:r>
            <a:r>
              <a:rPr lang="pl-PL" dirty="0" err="1" smtClean="0"/>
              <a:t>windows</a:t>
            </a:r>
            <a:endParaRPr lang="pl-PL" dirty="0" smtClean="0"/>
          </a:p>
          <a:p>
            <a:pPr lvl="1"/>
            <a:r>
              <a:rPr lang="pl-PL" dirty="0" err="1" smtClean="0"/>
              <a:t>Waffle</a:t>
            </a:r>
            <a:endParaRPr lang="pl-PL" dirty="0" smtClean="0"/>
          </a:p>
          <a:p>
            <a:pPr lvl="1"/>
            <a:r>
              <a:rPr lang="pl-PL" dirty="0" err="1" smtClean="0"/>
              <a:t>Slack</a:t>
            </a:r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196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Wstęp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 descr="https://assets-cdn.github.com/images/modules/logos_page/Octocat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440" y="1770966"/>
            <a:ext cx="4629293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0500" y="1627414"/>
            <a:ext cx="247965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Staging</a:t>
            </a:r>
            <a:r>
              <a:rPr lang="pl-PL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l-PL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area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86600" y="3371850"/>
            <a:ext cx="147841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branch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94722" y="5851315"/>
            <a:ext cx="42487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Repozytorium lokalne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06027" y="1133818"/>
            <a:ext cx="411157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Repozytorium zdalne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9533" y="3371850"/>
            <a:ext cx="137999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merge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32564" y="4798351"/>
            <a:ext cx="116410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196" y="4563159"/>
            <a:ext cx="22142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 </a:t>
            </a:r>
            <a:r>
              <a:rPr lang="pl-PL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24015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WorkFlow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" y="1828800"/>
            <a:ext cx="837819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415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WorkFlow</a:t>
            </a:r>
            <a:r>
              <a:rPr lang="pl-PL" dirty="0" smtClean="0"/>
              <a:t> – życie codzienne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364796"/>
            <a:ext cx="7390613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30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bash</a:t>
            </a:r>
            <a:r>
              <a:rPr lang="pl-PL" dirty="0" smtClean="0"/>
              <a:t> – Praca z repozytorium lokalnym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l-PL" dirty="0" smtClean="0"/>
              <a:t>git</a:t>
            </a:r>
          </a:p>
          <a:p>
            <a:pPr lvl="1"/>
            <a:r>
              <a:rPr lang="pl-PL" dirty="0" smtClean="0"/>
              <a:t>Listuje dostępne komendy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init</a:t>
            </a:r>
            <a:r>
              <a:rPr lang="pl-PL" dirty="0" smtClean="0"/>
              <a:t> </a:t>
            </a:r>
          </a:p>
          <a:p>
            <a:pPr lvl="1"/>
            <a:r>
              <a:rPr lang="pl-PL" dirty="0" smtClean="0"/>
              <a:t>Tworzy nowe repozytorium w obecnej lokalizacji</a:t>
            </a:r>
          </a:p>
          <a:p>
            <a:r>
              <a:rPr lang="pl-PL" dirty="0" smtClean="0"/>
              <a:t>git status</a:t>
            </a:r>
          </a:p>
          <a:p>
            <a:pPr lvl="1"/>
            <a:r>
              <a:rPr lang="pl-PL" dirty="0" smtClean="0"/>
              <a:t>Listuje zmienione/nieśledzone pliki.</a:t>
            </a:r>
          </a:p>
          <a:p>
            <a:r>
              <a:rPr lang="pl-PL" dirty="0"/>
              <a:t>g</a:t>
            </a:r>
            <a:r>
              <a:rPr lang="pl-PL" dirty="0" smtClean="0"/>
              <a:t>it </a:t>
            </a:r>
            <a:r>
              <a:rPr lang="pl-PL" dirty="0" err="1" smtClean="0"/>
              <a:t>add</a:t>
            </a:r>
            <a:r>
              <a:rPr lang="pl-PL" dirty="0" smtClean="0"/>
              <a:t> [plik]</a:t>
            </a:r>
          </a:p>
          <a:p>
            <a:pPr lvl="1"/>
            <a:r>
              <a:rPr lang="pl-PL" dirty="0" smtClean="0"/>
              <a:t>Dodaje plik/folder do  „</a:t>
            </a:r>
            <a:r>
              <a:rPr lang="pl-PL" dirty="0" err="1" smtClean="0"/>
              <a:t>staging</a:t>
            </a:r>
            <a:r>
              <a:rPr lang="pl-PL" dirty="0" smtClean="0"/>
              <a:t> </a:t>
            </a:r>
            <a:r>
              <a:rPr lang="pl-PL" dirty="0" err="1" smtClean="0"/>
              <a:t>area</a:t>
            </a:r>
            <a:r>
              <a:rPr lang="pl-PL" dirty="0" smtClean="0"/>
              <a:t>”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remove</a:t>
            </a:r>
            <a:r>
              <a:rPr lang="pl-PL" dirty="0" smtClean="0"/>
              <a:t> [--</a:t>
            </a:r>
            <a:r>
              <a:rPr lang="pl-PL" dirty="0" err="1" smtClean="0"/>
              <a:t>cached</a:t>
            </a:r>
            <a:r>
              <a:rPr lang="pl-PL" dirty="0" smtClean="0"/>
              <a:t>], [-f] [plik]</a:t>
            </a:r>
          </a:p>
          <a:p>
            <a:pPr lvl="1"/>
            <a:r>
              <a:rPr lang="pl-PL" dirty="0" smtClean="0"/>
              <a:t>--</a:t>
            </a:r>
            <a:r>
              <a:rPr lang="pl-PL" dirty="0" err="1" smtClean="0"/>
              <a:t>cached</a:t>
            </a:r>
            <a:r>
              <a:rPr lang="pl-PL" dirty="0" smtClean="0"/>
              <a:t> Usuwa plik z „</a:t>
            </a:r>
            <a:r>
              <a:rPr lang="pl-PL" dirty="0" err="1" smtClean="0"/>
              <a:t>staging</a:t>
            </a:r>
            <a:r>
              <a:rPr lang="pl-PL" dirty="0" smtClean="0"/>
              <a:t> </a:t>
            </a:r>
            <a:r>
              <a:rPr lang="pl-PL" dirty="0" err="1" smtClean="0"/>
              <a:t>area</a:t>
            </a:r>
            <a:r>
              <a:rPr lang="pl-PL" dirty="0" smtClean="0"/>
              <a:t>”</a:t>
            </a:r>
          </a:p>
          <a:p>
            <a:pPr lvl="1"/>
            <a:r>
              <a:rPr lang="pl-PL" dirty="0" smtClean="0"/>
              <a:t>-f wymusza fizyczne usunięcie pliku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commit</a:t>
            </a:r>
            <a:r>
              <a:rPr lang="pl-PL" dirty="0"/>
              <a:t> </a:t>
            </a:r>
            <a:r>
              <a:rPr lang="pl-PL" dirty="0" smtClean="0"/>
              <a:t>–m „</a:t>
            </a:r>
            <a:r>
              <a:rPr lang="pl-PL" dirty="0" err="1" smtClean="0"/>
              <a:t>message</a:t>
            </a:r>
            <a:r>
              <a:rPr lang="pl-PL" dirty="0" smtClean="0"/>
              <a:t>”</a:t>
            </a:r>
          </a:p>
          <a:p>
            <a:pPr lvl="1"/>
            <a:r>
              <a:rPr lang="pl-PL" dirty="0" smtClean="0"/>
              <a:t>Zatwierdza zmiany</a:t>
            </a:r>
          </a:p>
          <a:p>
            <a:r>
              <a:rPr lang="pl-PL" dirty="0"/>
              <a:t>g</a:t>
            </a:r>
            <a:r>
              <a:rPr lang="pl-PL" dirty="0" smtClean="0"/>
              <a:t>it log</a:t>
            </a:r>
          </a:p>
          <a:p>
            <a:pPr lvl="1"/>
            <a:r>
              <a:rPr lang="pl-PL" dirty="0" smtClean="0"/>
              <a:t>Pokazuje historie</a:t>
            </a:r>
          </a:p>
          <a:p>
            <a:r>
              <a:rPr lang="pl-PL" dirty="0" smtClean="0"/>
              <a:t>git reset [file]</a:t>
            </a:r>
          </a:p>
          <a:p>
            <a:pPr lvl="1"/>
            <a:r>
              <a:rPr lang="pl-PL" dirty="0" smtClean="0"/>
              <a:t>Przywraca oryginalny „</a:t>
            </a:r>
            <a:r>
              <a:rPr lang="pl-PL" dirty="0" err="1" smtClean="0"/>
              <a:t>stage</a:t>
            </a:r>
            <a:r>
              <a:rPr lang="pl-PL" dirty="0" smtClean="0"/>
              <a:t> </a:t>
            </a:r>
            <a:r>
              <a:rPr lang="pl-PL" dirty="0" err="1" smtClean="0"/>
              <a:t>area</a:t>
            </a:r>
            <a:r>
              <a:rPr lang="pl-PL" dirty="0" smtClean="0"/>
              <a:t>” dla poszczególnego pliku.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checkout</a:t>
            </a:r>
            <a:r>
              <a:rPr lang="pl-PL" dirty="0" smtClean="0"/>
              <a:t> [file]</a:t>
            </a:r>
          </a:p>
          <a:p>
            <a:pPr lvl="1"/>
            <a:r>
              <a:rPr lang="pl-PL" dirty="0" smtClean="0"/>
              <a:t>Przywraca plik do stanu w jakim był po naszym ostatnim </a:t>
            </a:r>
            <a:r>
              <a:rPr lang="pl-PL" dirty="0" err="1" smtClean="0"/>
              <a:t>commicie</a:t>
            </a:r>
            <a:r>
              <a:rPr lang="pl-PL" dirty="0" smtClean="0"/>
              <a:t>.</a:t>
            </a:r>
          </a:p>
          <a:p>
            <a:pPr lvl="1"/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403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bash</a:t>
            </a:r>
            <a:r>
              <a:rPr lang="pl-PL" dirty="0" smtClean="0"/>
              <a:t> – Praca z repozytorium lokalnym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 smtClean="0"/>
              <a:t>git </a:t>
            </a:r>
            <a:r>
              <a:rPr lang="pl-PL" dirty="0" err="1" smtClean="0"/>
              <a:t>branch</a:t>
            </a:r>
            <a:r>
              <a:rPr lang="pl-PL" dirty="0" smtClean="0"/>
              <a:t> [</a:t>
            </a:r>
            <a:r>
              <a:rPr lang="pl-PL" dirty="0" err="1" smtClean="0"/>
              <a:t>name</a:t>
            </a:r>
            <a:r>
              <a:rPr lang="pl-PL" dirty="0"/>
              <a:t>]</a:t>
            </a:r>
            <a:endParaRPr lang="pl-PL" dirty="0" smtClean="0"/>
          </a:p>
          <a:p>
            <a:pPr lvl="1"/>
            <a:r>
              <a:rPr lang="pl-PL" dirty="0" smtClean="0"/>
              <a:t>Tworzy nowy </a:t>
            </a:r>
            <a:r>
              <a:rPr lang="pl-PL" dirty="0" err="1" smtClean="0"/>
              <a:t>branch</a:t>
            </a:r>
            <a:endParaRPr lang="pl-PL" dirty="0" smtClean="0"/>
          </a:p>
          <a:p>
            <a:r>
              <a:rPr lang="pl-PL" dirty="0" smtClean="0"/>
              <a:t>git </a:t>
            </a:r>
            <a:r>
              <a:rPr lang="pl-PL" dirty="0" err="1" smtClean="0"/>
              <a:t>branch</a:t>
            </a:r>
            <a:r>
              <a:rPr lang="pl-PL" dirty="0" smtClean="0"/>
              <a:t> –d [</a:t>
            </a:r>
            <a:r>
              <a:rPr lang="pl-PL" dirty="0" err="1" smtClean="0"/>
              <a:t>name</a:t>
            </a:r>
            <a:r>
              <a:rPr lang="pl-PL" dirty="0" smtClean="0"/>
              <a:t>]</a:t>
            </a:r>
          </a:p>
          <a:p>
            <a:pPr lvl="1"/>
            <a:r>
              <a:rPr lang="pl-PL" dirty="0" smtClean="0"/>
              <a:t>Usuwa wskazany </a:t>
            </a:r>
            <a:r>
              <a:rPr lang="pl-PL" dirty="0" err="1" smtClean="0"/>
              <a:t>branch</a:t>
            </a:r>
            <a:endParaRPr lang="pl-PL" dirty="0" smtClean="0"/>
          </a:p>
          <a:p>
            <a:r>
              <a:rPr lang="pl-PL" dirty="0" smtClean="0"/>
              <a:t>git </a:t>
            </a:r>
            <a:r>
              <a:rPr lang="pl-PL" dirty="0" err="1" smtClean="0"/>
              <a:t>checkout</a:t>
            </a:r>
            <a:r>
              <a:rPr lang="pl-PL" dirty="0" smtClean="0"/>
              <a:t> [</a:t>
            </a:r>
            <a:r>
              <a:rPr lang="pl-PL" dirty="0" err="1" smtClean="0"/>
              <a:t>branchName</a:t>
            </a:r>
            <a:r>
              <a:rPr lang="pl-PL" dirty="0" smtClean="0"/>
              <a:t>]</a:t>
            </a:r>
          </a:p>
          <a:p>
            <a:pPr lvl="1"/>
            <a:r>
              <a:rPr lang="pl-PL" dirty="0" smtClean="0"/>
              <a:t>Przełącza wybrany </a:t>
            </a:r>
            <a:r>
              <a:rPr lang="pl-PL" dirty="0" err="1" smtClean="0"/>
              <a:t>branch</a:t>
            </a:r>
            <a:r>
              <a:rPr lang="pl-PL" dirty="0" smtClean="0"/>
              <a:t> na </a:t>
            </a:r>
            <a:r>
              <a:rPr lang="pl-PL" dirty="0" err="1" smtClean="0"/>
              <a:t>branchName</a:t>
            </a:r>
            <a:endParaRPr lang="pl-PL" dirty="0" smtClean="0"/>
          </a:p>
          <a:p>
            <a:r>
              <a:rPr lang="pl-PL" dirty="0" smtClean="0"/>
              <a:t>git </a:t>
            </a:r>
            <a:r>
              <a:rPr lang="pl-PL" dirty="0" err="1" smtClean="0"/>
              <a:t>merge</a:t>
            </a:r>
            <a:r>
              <a:rPr lang="pl-PL" dirty="0" smtClean="0"/>
              <a:t> [</a:t>
            </a:r>
            <a:r>
              <a:rPr lang="pl-PL" dirty="0" err="1" smtClean="0"/>
              <a:t>branchName</a:t>
            </a:r>
            <a:r>
              <a:rPr lang="pl-PL" dirty="0" smtClean="0"/>
              <a:t>]</a:t>
            </a:r>
          </a:p>
          <a:p>
            <a:pPr lvl="1"/>
            <a:r>
              <a:rPr lang="pl-PL" dirty="0" smtClean="0"/>
              <a:t>Do wybranego aktualnie </a:t>
            </a:r>
            <a:r>
              <a:rPr lang="pl-PL" dirty="0" err="1" smtClean="0"/>
              <a:t>brancha</a:t>
            </a:r>
            <a:r>
              <a:rPr lang="pl-PL" dirty="0" smtClean="0"/>
              <a:t>, następuje </a:t>
            </a:r>
            <a:r>
              <a:rPr lang="pl-PL" dirty="0" err="1" smtClean="0"/>
              <a:t>merge</a:t>
            </a:r>
            <a:r>
              <a:rPr lang="pl-PL" dirty="0" smtClean="0"/>
              <a:t> </a:t>
            </a:r>
            <a:r>
              <a:rPr lang="pl-PL" dirty="0" err="1" smtClean="0"/>
              <a:t>brancha</a:t>
            </a:r>
            <a:r>
              <a:rPr lang="pl-PL" dirty="0" smtClean="0"/>
              <a:t> </a:t>
            </a:r>
            <a:r>
              <a:rPr lang="pl-PL" dirty="0" err="1" smtClean="0"/>
              <a:t>branchName</a:t>
            </a:r>
            <a:endParaRPr lang="pl-PL" dirty="0" smtClean="0"/>
          </a:p>
          <a:p>
            <a:r>
              <a:rPr lang="pl-PL" dirty="0" smtClean="0"/>
              <a:t>git </a:t>
            </a:r>
            <a:r>
              <a:rPr lang="pl-PL" dirty="0" err="1" smtClean="0"/>
              <a:t>revert</a:t>
            </a:r>
            <a:r>
              <a:rPr lang="pl-PL" dirty="0" smtClean="0"/>
              <a:t> </a:t>
            </a:r>
            <a:r>
              <a:rPr lang="pl-PL" dirty="0" err="1" smtClean="0"/>
              <a:t>Head</a:t>
            </a:r>
            <a:endParaRPr lang="pl-PL" dirty="0" smtClean="0"/>
          </a:p>
          <a:p>
            <a:pPr lvl="1"/>
            <a:r>
              <a:rPr lang="pl-PL" dirty="0" smtClean="0"/>
              <a:t>Cofa dany punkt w historii. </a:t>
            </a:r>
            <a:r>
              <a:rPr lang="pl-PL" dirty="0" err="1" smtClean="0"/>
              <a:t>Head</a:t>
            </a:r>
            <a:r>
              <a:rPr lang="pl-PL" dirty="0" smtClean="0"/>
              <a:t> („głowa”) może być użyty w dany sposób; </a:t>
            </a:r>
            <a:r>
              <a:rPr lang="pl-PL" dirty="0" err="1" smtClean="0"/>
              <a:t>Head~n</a:t>
            </a:r>
            <a:r>
              <a:rPr lang="pl-PL" dirty="0" smtClean="0"/>
              <a:t>, gdzie n to liczba.</a:t>
            </a:r>
          </a:p>
          <a:p>
            <a:pPr lvl="1"/>
            <a:endParaRPr lang="pl-PL" dirty="0" smtClean="0"/>
          </a:p>
          <a:p>
            <a:pPr lvl="1"/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759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bash</a:t>
            </a:r>
            <a:r>
              <a:rPr lang="pl-PL" dirty="0" smtClean="0"/>
              <a:t> – Praca z repozytorium zdalnym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git</a:t>
            </a:r>
            <a:r>
              <a:rPr lang="en-US" dirty="0"/>
              <a:t> remote add origin </a:t>
            </a:r>
            <a:r>
              <a:rPr lang="pl-PL" dirty="0"/>
              <a:t>[</a:t>
            </a:r>
            <a:r>
              <a:rPr lang="pl-PL" dirty="0" err="1"/>
              <a:t>url</a:t>
            </a:r>
            <a:r>
              <a:rPr lang="pl-PL" dirty="0"/>
              <a:t>]</a:t>
            </a:r>
          </a:p>
          <a:p>
            <a:pPr lvl="1"/>
            <a:r>
              <a:rPr lang="pl-PL" dirty="0"/>
              <a:t>Wrzuca repozytorium lokalne na serwer. Inaczej; Tworzy repozytorium zdalne.</a:t>
            </a:r>
          </a:p>
          <a:p>
            <a:r>
              <a:rPr lang="pl-PL" dirty="0"/>
              <a:t>git clone [</a:t>
            </a:r>
            <a:r>
              <a:rPr lang="pl-PL" dirty="0" err="1"/>
              <a:t>url</a:t>
            </a:r>
            <a:r>
              <a:rPr lang="pl-PL" dirty="0"/>
              <a:t>]</a:t>
            </a:r>
          </a:p>
          <a:p>
            <a:pPr lvl="1"/>
            <a:r>
              <a:rPr lang="pl-PL" dirty="0"/>
              <a:t>Pobiera repozytorium </a:t>
            </a:r>
            <a:r>
              <a:rPr lang="pl-PL" dirty="0" smtClean="0"/>
              <a:t>zdalne</a:t>
            </a:r>
          </a:p>
          <a:p>
            <a:r>
              <a:rPr lang="pl-PL" dirty="0" smtClean="0"/>
              <a:t>git </a:t>
            </a:r>
            <a:r>
              <a:rPr lang="pl-PL" dirty="0" err="1"/>
              <a:t>push</a:t>
            </a:r>
            <a:r>
              <a:rPr lang="pl-PL" dirty="0"/>
              <a:t> </a:t>
            </a:r>
            <a:r>
              <a:rPr lang="pl-PL" dirty="0" smtClean="0"/>
              <a:t>[-</a:t>
            </a:r>
            <a:r>
              <a:rPr lang="pl-PL" dirty="0"/>
              <a:t>u </a:t>
            </a:r>
            <a:r>
              <a:rPr lang="pl-PL" dirty="0" err="1"/>
              <a:t>origin</a:t>
            </a:r>
            <a:r>
              <a:rPr lang="pl-PL" dirty="0"/>
              <a:t> </a:t>
            </a:r>
            <a:r>
              <a:rPr lang="pl-PL" dirty="0" smtClean="0"/>
              <a:t>master]</a:t>
            </a:r>
          </a:p>
          <a:p>
            <a:pPr lvl="1"/>
            <a:r>
              <a:rPr lang="pl-PL" dirty="0" smtClean="0"/>
              <a:t>Wrzuca </a:t>
            </a:r>
            <a:r>
              <a:rPr lang="pl-PL" dirty="0" err="1" smtClean="0"/>
              <a:t>commity</a:t>
            </a:r>
            <a:r>
              <a:rPr lang="pl-PL" dirty="0" smtClean="0"/>
              <a:t> do […]</a:t>
            </a:r>
          </a:p>
          <a:p>
            <a:pPr lvl="1"/>
            <a:r>
              <a:rPr lang="pl-PL" dirty="0" smtClean="0"/>
              <a:t>-u sprawia że git zapamiętuje ustawienia, tak że następnym razem wystarczy sam „git </a:t>
            </a:r>
            <a:r>
              <a:rPr lang="pl-PL" dirty="0" err="1" smtClean="0"/>
              <a:t>push</a:t>
            </a:r>
            <a:r>
              <a:rPr lang="pl-PL" dirty="0" smtClean="0"/>
              <a:t>”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pull</a:t>
            </a:r>
            <a:r>
              <a:rPr lang="pl-PL" dirty="0" smtClean="0"/>
              <a:t> [</a:t>
            </a:r>
            <a:r>
              <a:rPr lang="pl-PL" dirty="0" err="1" smtClean="0"/>
              <a:t>origin</a:t>
            </a:r>
            <a:r>
              <a:rPr lang="pl-PL" dirty="0" smtClean="0"/>
              <a:t> master]</a:t>
            </a:r>
          </a:p>
          <a:p>
            <a:pPr lvl="1"/>
            <a:r>
              <a:rPr lang="pl-PL" dirty="0" smtClean="0"/>
              <a:t>Pobiera najnowsze źródła</a:t>
            </a:r>
          </a:p>
          <a:p>
            <a:r>
              <a:rPr lang="pl-PL" dirty="0" smtClean="0"/>
              <a:t>git </a:t>
            </a:r>
            <a:r>
              <a:rPr lang="pl-PL" dirty="0" err="1" smtClean="0"/>
              <a:t>diff</a:t>
            </a:r>
            <a:endParaRPr lang="pl-PL" dirty="0" smtClean="0"/>
          </a:p>
          <a:p>
            <a:pPr lvl="1"/>
            <a:r>
              <a:rPr lang="pl-PL" dirty="0" smtClean="0"/>
              <a:t>Wyświetla różnice pomiędzy tym to co jest w repozytorium zdalnym, a wersją od naszego ostatniego </a:t>
            </a:r>
            <a:r>
              <a:rPr lang="pl-PL" dirty="0" err="1" smtClean="0"/>
              <a:t>commita</a:t>
            </a:r>
            <a:r>
              <a:rPr lang="pl-PL" dirty="0" smtClean="0"/>
              <a:t>.</a:t>
            </a:r>
          </a:p>
          <a:p>
            <a:endParaRPr lang="pl-PL" dirty="0" smtClean="0"/>
          </a:p>
          <a:p>
            <a:r>
              <a:rPr lang="pl-PL" dirty="0" smtClean="0"/>
              <a:t>https</a:t>
            </a:r>
            <a:r>
              <a:rPr lang="pl-PL" dirty="0"/>
              <a:t>://try.github.io/levels/1/challenges/1</a:t>
            </a:r>
            <a:endParaRPr lang="pl-PL" dirty="0" smtClean="0"/>
          </a:p>
          <a:p>
            <a:pPr lvl="1"/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936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</a:t>
            </a:r>
            <a:r>
              <a:rPr lang="pl-PL" dirty="0" err="1" smtClean="0"/>
              <a:t>pull</a:t>
            </a:r>
            <a:r>
              <a:rPr lang="pl-PL" dirty="0" smtClean="0"/>
              <a:t> --</a:t>
            </a:r>
            <a:r>
              <a:rPr lang="pl-PL" dirty="0" err="1" smtClean="0"/>
              <a:t>rebase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A-B-C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648" y="1741457"/>
            <a:ext cx="2428571" cy="64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-B-C-D-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307" y="2487920"/>
            <a:ext cx="3810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-B-C-D-E-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648" y="3817501"/>
            <a:ext cx="3810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-B-C-D-E-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307" y="5147082"/>
            <a:ext cx="38100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ymbol zastępczy zawartości 2"/>
          <p:cNvSpPr txBox="1">
            <a:spLocks/>
          </p:cNvSpPr>
          <p:nvPr/>
        </p:nvSpPr>
        <p:spPr>
          <a:xfrm>
            <a:off x="152400" y="1295400"/>
            <a:ext cx="8839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D2121"/>
              </a:buClr>
              <a:buFont typeface="Wingdings" pitchFamily="2" charset="2"/>
              <a:buChar char="§"/>
              <a:defRPr sz="3200" b="1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smtClean="0"/>
              <a:t>git </a:t>
            </a:r>
            <a:r>
              <a:rPr lang="pl-PL" dirty="0" err="1" smtClean="0"/>
              <a:t>pull</a:t>
            </a:r>
            <a:endParaRPr lang="pl-PL" dirty="0"/>
          </a:p>
          <a:p>
            <a:pPr lvl="1"/>
            <a:r>
              <a:rPr lang="pl-PL" dirty="0" smtClean="0"/>
              <a:t>Pobranie + </a:t>
            </a:r>
            <a:r>
              <a:rPr lang="pl-PL" dirty="0" err="1" smtClean="0"/>
              <a:t>merge</a:t>
            </a:r>
            <a:endParaRPr lang="pl-PL" dirty="0" smtClean="0"/>
          </a:p>
          <a:p>
            <a:r>
              <a:rPr lang="pl-PL" dirty="0" smtClean="0"/>
              <a:t>Git </a:t>
            </a:r>
            <a:r>
              <a:rPr lang="pl-PL" dirty="0" err="1" smtClean="0"/>
              <a:t>pull</a:t>
            </a:r>
            <a:r>
              <a:rPr lang="pl-PL" dirty="0" smtClean="0"/>
              <a:t> –-</a:t>
            </a:r>
            <a:r>
              <a:rPr lang="pl-PL" dirty="0" err="1" smtClean="0"/>
              <a:t>rebase</a:t>
            </a:r>
            <a:endParaRPr lang="pl-PL" dirty="0" smtClean="0"/>
          </a:p>
          <a:p>
            <a:pPr lvl="1"/>
            <a:r>
              <a:rPr lang="pl-PL" dirty="0" smtClean="0"/>
              <a:t>Pobranie + zmiana bazy</a:t>
            </a:r>
          </a:p>
          <a:p>
            <a:pPr lvl="1"/>
            <a:endParaRPr lang="pl-PL" dirty="0"/>
          </a:p>
          <a:p>
            <a:pPr marL="0" indent="0">
              <a:buNone/>
            </a:pPr>
            <a:r>
              <a:rPr lang="pl-PL" sz="2800" b="0" dirty="0" smtClean="0"/>
              <a:t>Dzięki temu unikamy</a:t>
            </a:r>
            <a:br>
              <a:rPr lang="pl-PL" sz="2800" b="0" dirty="0" smtClean="0"/>
            </a:br>
            <a:r>
              <a:rPr lang="pl-PL" sz="2800" b="0" dirty="0" smtClean="0"/>
              <a:t>kształtu diamentu,</a:t>
            </a:r>
            <a:br>
              <a:rPr lang="pl-PL" sz="2800" b="0" dirty="0" smtClean="0"/>
            </a:br>
            <a:r>
              <a:rPr lang="pl-PL" sz="2800" b="0" dirty="0" smtClean="0"/>
              <a:t>patrząc na historię,</a:t>
            </a:r>
            <a:br>
              <a:rPr lang="pl-PL" sz="2800" b="0" dirty="0" smtClean="0"/>
            </a:br>
            <a:r>
              <a:rPr lang="pl-PL" sz="2800" b="0" dirty="0" smtClean="0"/>
              <a:t>repozytorium. Zamiast</a:t>
            </a:r>
            <a:br>
              <a:rPr lang="pl-PL" sz="2800" b="0" dirty="0" smtClean="0"/>
            </a:br>
            <a:r>
              <a:rPr lang="pl-PL" sz="2800" b="0" dirty="0" err="1" smtClean="0"/>
              <a:t>merga</a:t>
            </a:r>
            <a:r>
              <a:rPr lang="pl-PL" sz="2800" b="0" dirty="0" smtClean="0"/>
              <a:t> M = D+E, zmieniamy</a:t>
            </a:r>
            <a:br>
              <a:rPr lang="pl-PL" sz="2800" b="0" dirty="0" smtClean="0"/>
            </a:br>
            <a:r>
              <a:rPr lang="pl-PL" sz="2800" b="0" dirty="0" smtClean="0"/>
              <a:t>bazę </a:t>
            </a:r>
            <a:r>
              <a:rPr lang="pl-PL" sz="2800" b="0" dirty="0" err="1" smtClean="0"/>
              <a:t>commitu</a:t>
            </a:r>
            <a:r>
              <a:rPr lang="pl-PL" sz="2800" b="0" dirty="0" smtClean="0"/>
              <a:t> E na D (poprzez</a:t>
            </a:r>
            <a:br>
              <a:rPr lang="pl-PL" sz="2800" b="0" dirty="0" smtClean="0"/>
            </a:br>
            <a:r>
              <a:rPr lang="pl-PL" sz="2800" b="0" dirty="0" smtClean="0"/>
              <a:t>utworzenie </a:t>
            </a:r>
            <a:r>
              <a:rPr lang="pl-PL" sz="2800" b="0" dirty="0" err="1" smtClean="0"/>
              <a:t>commitu</a:t>
            </a:r>
            <a:r>
              <a:rPr lang="pl-PL" sz="2800" b="0" dirty="0" smtClean="0"/>
              <a:t> R), dzięki</a:t>
            </a:r>
            <a:br>
              <a:rPr lang="pl-PL" sz="2800" b="0" dirty="0" smtClean="0"/>
            </a:br>
            <a:r>
              <a:rPr lang="pl-PL" sz="2800" b="0" dirty="0" smtClean="0"/>
              <a:t>czemu utrzymujemy liniową</a:t>
            </a:r>
            <a:br>
              <a:rPr lang="pl-PL" sz="2800" b="0" dirty="0" smtClean="0"/>
            </a:br>
            <a:r>
              <a:rPr lang="pl-PL" sz="2800" b="0" dirty="0" smtClean="0"/>
              <a:t>historię.</a:t>
            </a:r>
          </a:p>
          <a:p>
            <a:pPr lvl="1"/>
            <a:endParaRPr lang="pl-PL" dirty="0" smtClean="0"/>
          </a:p>
        </p:txBody>
      </p:sp>
      <p:sp>
        <p:nvSpPr>
          <p:cNvPr id="3" name="Rectangle 2"/>
          <p:cNvSpPr/>
          <p:nvPr/>
        </p:nvSpPr>
        <p:spPr>
          <a:xfrm>
            <a:off x="4728183" y="180365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8183" y="283513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42423" y="4094746"/>
            <a:ext cx="53892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pl-PL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21682" y="5466665"/>
            <a:ext cx="55656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pl-PL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91102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Git, jak zrobić </a:t>
            </a:r>
            <a:r>
              <a:rPr lang="pl-PL" dirty="0" err="1" smtClean="0"/>
              <a:t>merge</a:t>
            </a:r>
            <a:r>
              <a:rPr lang="pl-PL" dirty="0" smtClean="0"/>
              <a:t> cywilizowanym narzędziem?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Git może używać wielu narzędzi do rozwiązywania konfliktów przy </a:t>
            </a:r>
            <a:r>
              <a:rPr lang="pl-PL" dirty="0" err="1" smtClean="0"/>
              <a:t>mergowaniu</a:t>
            </a:r>
            <a:r>
              <a:rPr lang="pl-PL" dirty="0" smtClean="0"/>
              <a:t>.</a:t>
            </a:r>
          </a:p>
          <a:p>
            <a:r>
              <a:rPr lang="pl-PL" dirty="0"/>
              <a:t>git </a:t>
            </a:r>
            <a:r>
              <a:rPr lang="pl-PL" dirty="0" err="1"/>
              <a:t>mergetool</a:t>
            </a:r>
            <a:r>
              <a:rPr lang="pl-PL" dirty="0"/>
              <a:t> --</a:t>
            </a:r>
            <a:r>
              <a:rPr lang="pl-PL" dirty="0" err="1" smtClean="0"/>
              <a:t>tool-help</a:t>
            </a:r>
            <a:endParaRPr lang="pl-PL" dirty="0" smtClean="0"/>
          </a:p>
          <a:p>
            <a:pPr lvl="1"/>
            <a:r>
              <a:rPr lang="pl-PL" dirty="0" smtClean="0"/>
              <a:t>Listuje wszystkie narzędzia które mogą zostać użyte, aby rozwiązać konflikty przy </a:t>
            </a:r>
            <a:r>
              <a:rPr lang="pl-PL" dirty="0" err="1" smtClean="0"/>
              <a:t>mergowaniu</a:t>
            </a:r>
            <a:r>
              <a:rPr lang="pl-PL" dirty="0" smtClean="0"/>
              <a:t>.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merge.tool</a:t>
            </a:r>
            <a:r>
              <a:rPr lang="en-US" dirty="0"/>
              <a:t> p4merge</a:t>
            </a:r>
            <a:endParaRPr lang="pl-PL" dirty="0" smtClean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437059"/>
              </p:ext>
            </p:extLst>
          </p:nvPr>
        </p:nvGraphicFramePr>
        <p:xfrm>
          <a:off x="7696200" y="5036886"/>
          <a:ext cx="1009650" cy="1363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Packager Shell Object" showAsIcon="1" r:id="rId4" imgW="362520" imgH="488520" progId="Package">
                  <p:embed/>
                </p:oleObj>
              </mc:Choice>
              <mc:Fallback>
                <p:oleObj name="Packager Shell Object" showAsIcon="1" r:id="rId4" imgW="362520" imgH="4885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96200" y="5036886"/>
                        <a:ext cx="1009650" cy="1363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6390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Git Gui, </a:t>
            </a:r>
            <a:r>
              <a:rPr lang="pl-PL" dirty="0" err="1" smtClean="0"/>
              <a:t>Github</a:t>
            </a:r>
            <a:r>
              <a:rPr lang="pl-PL" dirty="0" smtClean="0"/>
              <a:t> for Windows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Symbol zastępczy zawartości 2"/>
          <p:cNvSpPr txBox="1">
            <a:spLocks/>
          </p:cNvSpPr>
          <p:nvPr/>
        </p:nvSpPr>
        <p:spPr>
          <a:xfrm>
            <a:off x="152400" y="1295400"/>
            <a:ext cx="8839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D2121"/>
              </a:buClr>
              <a:buFont typeface="Wingdings" pitchFamily="2" charset="2"/>
              <a:buChar char="§"/>
              <a:defRPr sz="3200" b="1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smtClean="0"/>
              <a:t>Obydwie rzeczy zawierają zestaw narzędzi, który może zastąpić nam linię poleceń.</a:t>
            </a:r>
          </a:p>
          <a:p>
            <a:r>
              <a:rPr lang="pl-PL" dirty="0" err="1" smtClean="0"/>
              <a:t>Github</a:t>
            </a:r>
            <a:r>
              <a:rPr lang="pl-PL" dirty="0" smtClean="0"/>
              <a:t> for </a:t>
            </a:r>
            <a:r>
              <a:rPr lang="pl-PL" dirty="0" err="1" smtClean="0"/>
              <a:t>windows</a:t>
            </a:r>
            <a:r>
              <a:rPr lang="pl-PL" dirty="0" smtClean="0"/>
              <a:t> jest </a:t>
            </a:r>
            <a:r>
              <a:rPr lang="pl-PL" dirty="0" err="1" smtClean="0"/>
              <a:t>nowoczosny</a:t>
            </a:r>
            <a:r>
              <a:rPr lang="pl-PL" dirty="0" smtClean="0"/>
              <a:t> przy czym jest mocno zorientowany na repozytoria zdalna, korzystające z …</a:t>
            </a:r>
          </a:p>
          <a:p>
            <a:endParaRPr lang="pl-PL" dirty="0"/>
          </a:p>
          <a:p>
            <a:endParaRPr lang="pl-PL" b="0" dirty="0" smtClean="0"/>
          </a:p>
          <a:p>
            <a:r>
              <a:rPr lang="pl-PL" dirty="0" smtClean="0"/>
              <a:t>Hostingowy </a:t>
            </a:r>
            <a:r>
              <a:rPr lang="pl-PL" dirty="0"/>
              <a:t>serwis internetowy przeznaczony dla projektów programistycznych wykorzystujących system kontroli wersji </a:t>
            </a:r>
            <a:r>
              <a:rPr lang="pl-PL" dirty="0" smtClean="0"/>
              <a:t>Git.</a:t>
            </a:r>
          </a:p>
          <a:p>
            <a:r>
              <a:rPr lang="pl-PL" dirty="0"/>
              <a:t>https://github.com/</a:t>
            </a:r>
            <a:endParaRPr lang="pl-PL" dirty="0" smtClean="0"/>
          </a:p>
        </p:txBody>
      </p:sp>
      <p:sp>
        <p:nvSpPr>
          <p:cNvPr id="10" name="Tytuł 1"/>
          <p:cNvSpPr txBox="1">
            <a:spLocks/>
          </p:cNvSpPr>
          <p:nvPr/>
        </p:nvSpPr>
        <p:spPr>
          <a:xfrm>
            <a:off x="152400" y="34290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bg1">
                    <a:lumMod val="5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Gill Sans MT Condensed" pitchFamily="34" charset="-18"/>
                <a:ea typeface="+mj-ea"/>
                <a:cs typeface="+mj-cs"/>
              </a:defRPr>
            </a:lvl1pPr>
          </a:lstStyle>
          <a:p>
            <a:r>
              <a:rPr lang="pl-PL" dirty="0" err="1" smtClean="0"/>
              <a:t>GitHub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756901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 smtClean="0"/>
              <a:t>Waffle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B10B1-CFAE-4B3D-B1DA-4BA7CB88E0D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Symbol zastępczy zawartości 2"/>
          <p:cNvSpPr txBox="1">
            <a:spLocks/>
          </p:cNvSpPr>
          <p:nvPr/>
        </p:nvSpPr>
        <p:spPr>
          <a:xfrm>
            <a:off x="152400" y="1295400"/>
            <a:ext cx="88392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D2121"/>
              </a:buClr>
              <a:buFont typeface="Wingdings" pitchFamily="2" charset="2"/>
              <a:buChar char="§"/>
              <a:defRPr sz="3200" b="1" kern="1200">
                <a:solidFill>
                  <a:schemeClr val="tx1"/>
                </a:solidFill>
                <a:effectLst/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86A9E"/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smtClean="0"/>
              <a:t>Narzędzie wspomagające zarządzaniem przebiegu pracy, bazujące na </a:t>
            </a:r>
            <a:r>
              <a:rPr lang="pl-PL" dirty="0" err="1" smtClean="0"/>
              <a:t>GitHubie</a:t>
            </a:r>
            <a:r>
              <a:rPr lang="pl-PL" dirty="0" smtClean="0"/>
              <a:t>.</a:t>
            </a:r>
          </a:p>
          <a:p>
            <a:r>
              <a:rPr lang="pl-PL" dirty="0"/>
              <a:t>https://waffle.io/</a:t>
            </a:r>
          </a:p>
          <a:p>
            <a:endParaRPr lang="pl-PL" b="0" dirty="0" smtClean="0"/>
          </a:p>
          <a:p>
            <a:r>
              <a:rPr lang="pl-PL" dirty="0" smtClean="0"/>
              <a:t>Narzędzie</a:t>
            </a:r>
            <a:r>
              <a:rPr lang="pl-PL" dirty="0"/>
              <a:t>, które może służyć niczym firmowy komunikator – taka spółkowa wersja </a:t>
            </a:r>
            <a:r>
              <a:rPr lang="pl-PL" dirty="0" err="1" smtClean="0"/>
              <a:t>Twittera</a:t>
            </a:r>
            <a:r>
              <a:rPr lang="pl-PL" dirty="0" smtClean="0"/>
              <a:t>.</a:t>
            </a:r>
          </a:p>
          <a:p>
            <a:r>
              <a:rPr lang="pl-PL" dirty="0" smtClean="0"/>
              <a:t>Liczne integracje, które czynią </a:t>
            </a:r>
            <a:r>
              <a:rPr lang="pl-PL" dirty="0" err="1" smtClean="0"/>
              <a:t>Slacka</a:t>
            </a:r>
            <a:r>
              <a:rPr lang="pl-PL" dirty="0" smtClean="0"/>
              <a:t> niezwykle pożytecznym.</a:t>
            </a:r>
          </a:p>
          <a:p>
            <a:r>
              <a:rPr lang="pl-PL" dirty="0" smtClean="0"/>
              <a:t>https</a:t>
            </a:r>
            <a:r>
              <a:rPr lang="pl-PL" dirty="0"/>
              <a:t>://slack.com/</a:t>
            </a:r>
            <a:endParaRPr lang="pl-PL" dirty="0" smtClean="0"/>
          </a:p>
        </p:txBody>
      </p:sp>
      <p:sp>
        <p:nvSpPr>
          <p:cNvPr id="10" name="Tytuł 1"/>
          <p:cNvSpPr txBox="1">
            <a:spLocks/>
          </p:cNvSpPr>
          <p:nvPr/>
        </p:nvSpPr>
        <p:spPr>
          <a:xfrm>
            <a:off x="152400" y="2438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bg1">
                    <a:lumMod val="5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Gill Sans MT Condensed" pitchFamily="34" charset="-18"/>
                <a:ea typeface="+mj-ea"/>
                <a:cs typeface="+mj-cs"/>
              </a:defRPr>
            </a:lvl1pPr>
          </a:lstStyle>
          <a:p>
            <a:r>
              <a:rPr lang="pl-PL" dirty="0" err="1" smtClean="0"/>
              <a:t>Slack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824535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3C2D560936F14DB3C747B451C321F8" ma:contentTypeVersion="0" ma:contentTypeDescription="Create a new document." ma:contentTypeScope="" ma:versionID="7139346c0c6d006d365cb807690fd5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E0F461D-A522-4A9C-B9F1-5A6DFD6C7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159C8-258C-4E6A-B889-C4C886CDDC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6AE455-0B25-403B-96F4-036DAFC47585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14097</TotalTime>
  <Words>550</Words>
  <Application>Microsoft Office PowerPoint</Application>
  <PresentationFormat>On-screen Show (4:3)</PresentationFormat>
  <Paragraphs>133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Wingdings</vt:lpstr>
      <vt:lpstr>Arial</vt:lpstr>
      <vt:lpstr>Gill Sans MT Condensed</vt:lpstr>
      <vt:lpstr>Trebuchet MS</vt:lpstr>
      <vt:lpstr>Calibri</vt:lpstr>
      <vt:lpstr>Office Theme</vt:lpstr>
      <vt:lpstr>Package</vt:lpstr>
      <vt:lpstr>Podstawy GIT</vt:lpstr>
      <vt:lpstr>Agenda</vt:lpstr>
      <vt:lpstr>Wstęp</vt:lpstr>
      <vt:lpstr>Git WorkFlow</vt:lpstr>
      <vt:lpstr>Git WorkFlow – życie codzienne</vt:lpstr>
      <vt:lpstr>Git bash – Praca z repozytorium lokalnym</vt:lpstr>
      <vt:lpstr>Git bash – Praca z repozytorium lokalnym</vt:lpstr>
      <vt:lpstr>Git bash – Praca z repozytorium zdalnym</vt:lpstr>
      <vt:lpstr>Git pull --rebase</vt:lpstr>
      <vt:lpstr>Git, jak zrobić merge cywilizowanym narzędziem?</vt:lpstr>
      <vt:lpstr>Git Gui, Github for Windows</vt:lpstr>
      <vt:lpstr>Waffle</vt:lpstr>
    </vt:vector>
  </TitlesOfParts>
  <Company>LGBS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prezentacji PowerPoint</dc:title>
  <dc:creator>Wojciech Kosiński</dc:creator>
  <cp:lastModifiedBy>Marcin Golenia</cp:lastModifiedBy>
  <cp:revision>152</cp:revision>
  <dcterms:created xsi:type="dcterms:W3CDTF">2008-07-31T22:22:11Z</dcterms:created>
  <dcterms:modified xsi:type="dcterms:W3CDTF">2015-07-06T11:18:46Z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0x0101000A3C2D560936F14DB3C747B451C321F8</vt:lpwstr>
  </property>
</Properties>
</file>